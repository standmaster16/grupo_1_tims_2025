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0564" cy="1069238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74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6860" y="1553210"/>
            <a:ext cx="483108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b="1" sz="1100">
                <a:solidFill>
                  <a:srgbClr val="000000"/>
                </a:solidFill>
                <a:latin typeface="Arial Nova"/>
              </a:rPr>
              <a:t>O G.E.A.R – GRUPO DE ESTUDOS APLICADOS À ROBÓTICA APRESENTA: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635250"/>
            <a:ext cx="5765800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74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0770" y="1270000"/>
            <a:ext cx="1052830" cy="157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I. 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770" y="1578610"/>
            <a:ext cx="575690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GEAR - Grupo de Estudos Aplicados à Robótica, neste ano de 2025 anuncia a Terceira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770" y="1761489"/>
            <a:ext cx="576198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Edição do Torneio de Mini Robôs Sumô, um torneio interno que busca promover a criatividade,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770" y="1944370"/>
            <a:ext cx="474980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inovação, colaboração e uma experiência de combate no campo da robótica.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770" y="2228850"/>
            <a:ext cx="57581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Os Robôs Sumô fazem parte de uma categoria de competição de robótica que simula o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770" y="2404110"/>
            <a:ext cx="5761989" cy="1435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esporte nacional japonês de luta livre, o Sumô</a:t>
            </a:r>
            <a:r>
              <a:rPr spc="-100" sz="1100">
                <a:solidFill>
                  <a:srgbClr val="000000"/>
                </a:solidFill>
                <a:latin typeface="MS Mincho"/>
              </a:rPr>
              <a:t> 相撲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. O sumô de robôs tem dois tipos de robôs: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770" y="2606040"/>
            <a:ext cx="575818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Rádio Controlado (RC) e Autônomo (Auto). O primeiro é controlado por um operador através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770" y="2788920"/>
            <a:ext cx="575818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de um sistema de controle por rádio e o segundo tipo é operado autonomamente por um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770" y="2971800"/>
            <a:ext cx="230632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programa carregado em seu sistema.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770" y="4944110"/>
            <a:ext cx="93980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II. OBJETIVOS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9370" y="5229860"/>
            <a:ext cx="113030" cy="1003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1.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7970" y="5228590"/>
            <a:ext cx="405510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Incentivar a criatividade e inovação no desenvolvimento de robôs;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9370" y="5411470"/>
            <a:ext cx="113030" cy="1003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2.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7970" y="5411470"/>
            <a:ext cx="365760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Fomentar o trabalho em equipe e a troca de conhecimento;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9370" y="5594350"/>
            <a:ext cx="11303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3.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7970" y="5556250"/>
            <a:ext cx="5302250" cy="167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Proporcionar um ambiente de aprendizado prático e desafios tecnológicos através 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7970" y="5775960"/>
            <a:ext cx="530225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uma competição saudável, preparando os participantes para representar e disputar em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7970" y="5956300"/>
            <a:ext cx="432180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nome do GEAR em outras diversas competições que surgirão adiante.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770" y="6398260"/>
            <a:ext cx="123444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III. PÚBLICO-ALVO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770" y="6708140"/>
            <a:ext cx="576072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Torneio de Mini Robôs Sumô 2025 é destinado aos veteranos e novos integrantes do GEAR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770" y="6889750"/>
            <a:ext cx="259715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– Grupo de Estudos Aplicados à Robótica.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450" y="3435350"/>
            <a:ext cx="49276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74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0770" y="1270000"/>
            <a:ext cx="2334260" cy="157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IV. MODALIDADE DA COMPETIÇÃO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770" y="1578610"/>
            <a:ext cx="475488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Objetivo: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Os robôs devem empurrar o adversário para fora da arena circular.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770" y="1864360"/>
            <a:ext cx="575818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Regras gerais: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Arena será composta por uma placa de madeira circular de 77cm de diâmetro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770" y="2045970"/>
            <a:ext cx="575945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, tendo duas linhas marrons com uma largura de 1cm e um comprimento de 10cm. Cada linha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770" y="2193290"/>
            <a:ext cx="5763259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estará localizada a 5cm à direita e à esquerda do centro da arena. E, por fim, uma linha branca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770" y="2413000"/>
            <a:ext cx="431419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circular de 2,5cm de largura, do interior para a linha externa da arena.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7840" y="5081270"/>
            <a:ext cx="184531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u="sng" b="1" sz="11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Arial Nova"/>
              </a:rPr>
              <a:t>Peso máximo do robô</a:t>
            </a:r>
            <a:r>
              <a:rPr spc="-100" b="1" sz="1100">
                <a:solidFill>
                  <a:srgbClr val="000000"/>
                </a:solidFill>
                <a:latin typeface="Arial Nova"/>
              </a:rPr>
              <a:t>: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500g;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3480" y="5367020"/>
            <a:ext cx="303784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u="sng" b="1" sz="11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Arial Nova"/>
              </a:rPr>
              <a:t>Dimensões</a:t>
            </a:r>
            <a:r>
              <a:rPr spc="-100" b="1" sz="1100">
                <a:solidFill>
                  <a:srgbClr val="000000"/>
                </a:solidFill>
                <a:latin typeface="Arial Nova"/>
              </a:rPr>
              <a:t>: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10 cm x 10 cm, sem limite de altura.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2740" y="5650230"/>
            <a:ext cx="2175510" cy="1041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u="sng" b="1" sz="11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Arial Nova"/>
              </a:rPr>
              <a:t>Os robôs devem ser controlados.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770" y="7425690"/>
            <a:ext cx="2575560" cy="1574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ESPECIFICAÇÃO DOS ROBÔS SUMÔS: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9370" y="7777480"/>
            <a:ext cx="64770" cy="49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7970" y="7703820"/>
            <a:ext cx="3458209" cy="167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Interferência: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Dispositivos que interfiram são proibidos;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9370" y="796163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7970" y="7924800"/>
            <a:ext cx="530225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Substâncias proibidas: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Uso de líquidos, gases, substâncias inflamáveis ou dispositivos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7970" y="8107680"/>
            <a:ext cx="223266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de projeção é estritamente proibido;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9370" y="8331200"/>
            <a:ext cx="64770" cy="49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7970" y="8257540"/>
            <a:ext cx="5302250" cy="167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Proteção de quinas: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Todas as quinas afiadas devem ser protegidas antes da luta.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7970" y="8475980"/>
            <a:ext cx="406907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remoção das proteções só será permitida após o início da partida;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9370" y="8698230"/>
            <a:ext cx="64770" cy="49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7970" y="8660130"/>
            <a:ext cx="530225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Expansão: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Durante a partida os robôs podem se expandir, desde que não se separem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7970" y="8807450"/>
            <a:ext cx="427609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fisicamente. Caso contrário, serão automaticamente desclassificados;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9370" y="906653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7970" y="9029700"/>
            <a:ext cx="530478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Medidas de Prevenção de Incêndio: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Para evitar sobrecorrente para a bateria,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7970" y="9212580"/>
            <a:ext cx="53009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equipamentos de segurança como fusíveis, poli-switch e bloqueio interno dentro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7970" y="9395460"/>
            <a:ext cx="17830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circuito devem ser utilizados;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550" y="2863850"/>
            <a:ext cx="2520950" cy="2184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100" y="5943600"/>
            <a:ext cx="20066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74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09370" y="133604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7970" y="1299210"/>
            <a:ext cx="530098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Quaisquer componentes que possam arranhar ou causar danos à superfície da arena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970" y="1483360"/>
            <a:ext cx="990600" cy="128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serão proibidos;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9370" y="1705610"/>
            <a:ext cx="64770" cy="49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7970" y="1667510"/>
            <a:ext cx="319913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Os robôs não podem conter dispositivos de ignição;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9370" y="1889760"/>
            <a:ext cx="64770" cy="49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7970" y="1851660"/>
            <a:ext cx="3839209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Os robôs não podem conter dispositivos de tiro ou arremesso;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9370" y="207518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7970" y="2002789"/>
            <a:ext cx="5303520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Os robôs não podem conter peças que fixem o robô na superfície da arena e impeçam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7970" y="2222500"/>
            <a:ext cx="2600960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que ele se mova, como ventosas, cola etc.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770" y="2479040"/>
            <a:ext cx="2044700" cy="1562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V. RODADAS DA COMPETIÇÃO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770" y="2788920"/>
            <a:ext cx="575690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Quando o juiz indicar, os robôs devem ser colocados na arena ao mesmo tempo. Depois 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770" y="2970530"/>
            <a:ext cx="337185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colocar o robô, o competidor deve se afastar da arena.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770" y="3255010"/>
            <a:ext cx="575945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As equipes se enfrentarão em duelos, com o robô vencedor (aquele que derrubar o adversário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70" y="3437890"/>
            <a:ext cx="330707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da arena primeiro) avançando para a próxima rodada.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9370" y="3761740"/>
            <a:ext cx="64770" cy="49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7970" y="3723640"/>
            <a:ext cx="530098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Como regra básica, o tempo de partida será baseado em três rounds com 1 minuto 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7970" y="3907790"/>
            <a:ext cx="204724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duração cada, 3 minutos no total;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9370" y="413004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7970" y="4093210"/>
            <a:ext cx="53009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Nenhuma manutenção mecânica, inclusão e/ou troca de peças e bateria, é permitida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7970" y="4276090"/>
            <a:ext cx="414274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após os robôs se apresentarem na arena até que a partida termine;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9370" y="449707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7970" y="4460240"/>
            <a:ext cx="53009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Nenhuma parte ou peça que se desprenda do robô poderá ser novamente colocada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7970" y="4644390"/>
            <a:ext cx="1090930" cy="128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durante a partida;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9370" y="4866640"/>
            <a:ext cx="64770" cy="49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7970" y="4828540"/>
            <a:ext cx="358012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intervalo entre os rounds é de no máximo 30 segundos;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9370" y="505206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7970" y="5015230"/>
            <a:ext cx="393572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Os robôs deverão permanecer todo o tempo visíveis para o juiz;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9370" y="523621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7970" y="5199380"/>
            <a:ext cx="519303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Os robôs do tipo Rádio Controlado iniciam a partida com um som eletrônico padrão.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0770" y="5483860"/>
            <a:ext cx="166751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Posicionamento dos robôs: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5835650"/>
            <a:ext cx="4476750" cy="3613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74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0770" y="1295400"/>
            <a:ext cx="5756909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torneio será disputado em formato de chaveamento, onde as equipes serão divididas em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770" y="1478280"/>
            <a:ext cx="5755639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confrontos diretos, com a vitória sendo determinada por uma melhor de 3 lutas. O critério de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770" y="1661160"/>
            <a:ext cx="215773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desempate segue o padrão abaixo: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9370" y="1988820"/>
            <a:ext cx="58420" cy="45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7970" y="1944370"/>
            <a:ext cx="149987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Vitória (Win)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: +3 pontos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9370" y="2272030"/>
            <a:ext cx="58420" cy="45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7970" y="2228850"/>
            <a:ext cx="151384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Empate (Draw)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: 1 ponto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9370" y="2555240"/>
            <a:ext cx="58420" cy="457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7970" y="2512060"/>
            <a:ext cx="148082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Derrota (Lose)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: 0 ponto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770" y="2796540"/>
            <a:ext cx="576072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Cada confronto será realizado entre duas equipes que competirão em três lutas. A equipe que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770" y="2978150"/>
            <a:ext cx="575945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vencer duas das três lutas será declarada vencedora do confronto, recebendo 3 pontos na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770" y="3162300"/>
            <a:ext cx="575945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tabela de pontuação. No caso de empate, ambas as equipes receberão 1 ponto, e na derrota,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770" y="3346450"/>
            <a:ext cx="1854200" cy="128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a equipe não acumula pontos.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770" y="3628390"/>
            <a:ext cx="1877060" cy="1028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Chaveamento de Confrontos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70" y="3911600"/>
            <a:ext cx="576198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Os confrontos serão realizados da seguinte maneira, com as equipes se enfrentando conforme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770" y="4095750"/>
            <a:ext cx="139192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a tabela de resultados: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9370" y="4420870"/>
            <a:ext cx="58420" cy="457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7970" y="4378960"/>
            <a:ext cx="3350259" cy="1282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Rodada 1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: Equipe 1 vs Equipe 2, Equipe 3 vs Equipe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9370" y="4705350"/>
            <a:ext cx="58420" cy="44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5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7970" y="4660900"/>
            <a:ext cx="530098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Rodada 2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: A cada rodada, o vencedor da primeira partida enfrentará o vencedor da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7970" y="4845050"/>
            <a:ext cx="56515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segunda.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770" y="5091430"/>
            <a:ext cx="4525009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Esses confrontos seguirão até que o torneio determine as posições finais.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770" y="5386070"/>
            <a:ext cx="2719070" cy="1574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VI. AVALIAÇÃO E CRITÉRIOS DE VITÓRIA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770" y="5660390"/>
            <a:ext cx="5756909" cy="167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critério de vitória será definido considerando o primeiro robô que empurrar o adversário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770" y="5878830"/>
            <a:ext cx="575690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para fora da arena, sendo esse o vencedor. Em caso de queda conjunta e/ou outra situação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770" y="6024880"/>
            <a:ext cx="5763259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não convencional, a equipe de avaliadores utilizará outros critérios para definir o vencedor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770" y="6243320"/>
            <a:ext cx="215138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(desgaste, vantagem de peso etc.).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9370" y="656717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7970" y="6530340"/>
            <a:ext cx="530098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Como regra básica, o tempo de partida será baseado em três rounds com 1 minuto de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7970" y="6714490"/>
            <a:ext cx="5298439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duração cada, 3 minutos no total, e o time que ganhar dois pontos primeiro durante o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7970" y="6896100"/>
            <a:ext cx="292100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tempo de partida será considerado o vencedor.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9370" y="711708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7970" y="7044690"/>
            <a:ext cx="5302250" cy="166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Se apenas um ponto tiver sido ganho até o final do tempo de partida, o time que ganhou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37970" y="7263130"/>
            <a:ext cx="233299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ponto será considerado o vencedor.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0770" y="7546340"/>
            <a:ext cx="479425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Se surgir uma das seguintes situações, o competidor receberá um ponto: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09370" y="7872730"/>
            <a:ext cx="64770" cy="49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7970" y="7834630"/>
            <a:ext cx="530098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Seu robô faz o robô do oponente tocar qualquer parte fora da arena legalmente. O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37970" y="8017509"/>
            <a:ext cx="452374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robô do oponente toca qualquer parte fora da arena por qualquer motivo.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8305800"/>
            <a:ext cx="47879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74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09370" y="133604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7970" y="1299210"/>
            <a:ext cx="530225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Seu robô tem a iniciativa do ataque e conduz o robô do oponente para fora do Dohyo,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7970" y="1482090"/>
            <a:ext cx="428244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mesmo que seu robô toque primeiro qualquer parte de fora da arena.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9370" y="1705610"/>
            <a:ext cx="64770" cy="49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7970" y="1667510"/>
            <a:ext cx="529843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Uma ou mais rodas do robô oponente saem da borda da arena, e o juiz conta até 3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7970" y="1850389"/>
            <a:ext cx="5300980" cy="1295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ele não pode retornar a arena. Essa condição deve ser considerada se persistir pelo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7970" y="2032000"/>
            <a:ext cx="399034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tempo determinado com ou sem interferência do robô oponente.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9370" y="2255520"/>
            <a:ext cx="64770" cy="49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7970" y="2217420"/>
            <a:ext cx="530225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Os juízes decidem que o robô do competidor é mais predominante que o do oponente,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7970" y="2399030"/>
            <a:ext cx="529970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levando em consideração de maneira abrangente a estratégia, os movimentos e 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7970" y="2581910"/>
            <a:ext cx="1644650" cy="1041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habilidades dos dois robôs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770" y="2865120"/>
            <a:ext cx="575690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Se surgir uma das seguintes situações, a partida será suspensa e a revanche será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770" y="3050540"/>
            <a:ext cx="63881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realizada: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9370" y="3373120"/>
            <a:ext cx="64770" cy="49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7970" y="3299460"/>
            <a:ext cx="5300980" cy="167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Ambos os robôs estão em estado de contato um com o outro e ficam incapazes de 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7970" y="3517900"/>
            <a:ext cx="530352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mover, não apresentam movimentação expressiva ou estão correndo na mesma órbita;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7970" y="3700779"/>
            <a:ext cx="3724909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mesmo depois que o juiz conta até 3 e a situação não muda.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9370" y="3923029"/>
            <a:ext cx="64770" cy="495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7970" y="3884929"/>
            <a:ext cx="529843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Ambos os robôs tocam simultaneamente ou ao mesmo tempo em qualquer parte fora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7970" y="4070350"/>
            <a:ext cx="57658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da arena.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9370" y="429133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7970" y="4254500"/>
            <a:ext cx="366902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Os juízes decidem que é impossível determinar o vencedor.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770" y="4512310"/>
            <a:ext cx="1085850" cy="1562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VII. PREMIAÇÃO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770" y="4822190"/>
            <a:ext cx="5763259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robô campeão será selecionado para representar o</a:t>
            </a:r>
            <a:r>
              <a:rPr spc="-100" b="1" sz="1100">
                <a:solidFill>
                  <a:srgbClr val="000000"/>
                </a:solidFill>
                <a:latin typeface="Arial Nova"/>
              </a:rPr>
              <a:t> GEAR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na</a:t>
            </a:r>
            <a:r>
              <a:rPr spc="-100" b="1" sz="1100">
                <a:solidFill>
                  <a:srgbClr val="000000"/>
                </a:solidFill>
                <a:latin typeface="Arial Nova"/>
              </a:rPr>
              <a:t> ROBOCORE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770" y="5003800"/>
            <a:ext cx="5761989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2026</a:t>
            </a:r>
            <a:r>
              <a:rPr spc="-100" sz="1100">
                <a:solidFill>
                  <a:srgbClr val="000000"/>
                </a:solidFill>
                <a:latin typeface="Arial Nova"/>
              </a:rPr>
              <a:t> , que ocorre durante a Campus Party Brasil. A equipe receberá um troféu exclusivo para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770" y="5151120"/>
            <a:ext cx="2446020" cy="167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1° lugar da competição e certificados;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770" y="5434330"/>
            <a:ext cx="306070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Medalhas e certificados para o 2° lugar e 3° lugar.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770" y="5730240"/>
            <a:ext cx="154305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VIII. CONDUTA E ÉTICA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770" y="6038850"/>
            <a:ext cx="416814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São proibidos os seguintes comportamentos durante a competição: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9370" y="6362700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7970" y="6325870"/>
            <a:ext cx="741680" cy="130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Sabotagem;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9370" y="6549390"/>
            <a:ext cx="64770" cy="495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7970" y="6512559"/>
            <a:ext cx="769619" cy="1282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Desrespeito;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9370" y="6734809"/>
            <a:ext cx="64770" cy="50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Symbol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37970" y="6697980"/>
            <a:ext cx="1694180" cy="1308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Agressão verbal e/ou física.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0770" y="6945630"/>
            <a:ext cx="5759450" cy="166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descumprimento de qualquer das regras supracitadas resultará na desclassificação imediata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0770" y="7164070"/>
            <a:ext cx="1197610" cy="1295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da equipe infratora.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0770" y="7421880"/>
            <a:ext cx="2009140" cy="1498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100">
                <a:solidFill>
                  <a:srgbClr val="000000"/>
                </a:solidFill>
                <a:latin typeface="Arial Nova"/>
              </a:rPr>
              <a:t>IX. LOCAL, DATA E HORÁRIOS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770" y="7730490"/>
            <a:ext cx="4364990" cy="132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torneio será realizado no FabLab* da Escola Superior de Tecnologia.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0770" y="8016240"/>
            <a:ext cx="391922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100">
                <a:solidFill>
                  <a:srgbClr val="000000"/>
                </a:solidFill>
                <a:latin typeface="Arial Nova"/>
              </a:rPr>
              <a:t>O evento ocorrerá no dia 05 de dezembro, tendo início às 19h*.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16780" y="8318500"/>
            <a:ext cx="2124710" cy="1066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sz="900">
                <a:solidFill>
                  <a:srgbClr val="000000"/>
                </a:solidFill>
                <a:latin typeface="Arial Nova"/>
              </a:rPr>
              <a:t>*Horário e local estão sujeitos a alteração</a:t>
            </a:r>
            <a:r>
              <a:rPr spc="-100" i="1" sz="1100">
                <a:solidFill>
                  <a:srgbClr val="000000"/>
                </a:solidFill>
                <a:latin typeface="Arial Nova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6479" y="8582660"/>
            <a:ext cx="748030" cy="132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i="1" b="1" sz="1100">
                <a:solidFill>
                  <a:srgbClr val="000000"/>
                </a:solidFill>
                <a:latin typeface="Arial Nova"/>
              </a:rPr>
              <a:t>Realização: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750" y="8775700"/>
            <a:ext cx="3016250" cy="1009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